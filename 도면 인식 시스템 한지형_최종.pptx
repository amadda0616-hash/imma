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76" r:id="rId7"/>
    <p:sldId id="260" r:id="rId8"/>
    <p:sldId id="261" r:id="rId9"/>
    <p:sldId id="262" r:id="rId10"/>
    <p:sldId id="273" r:id="rId11"/>
    <p:sldId id="264" r:id="rId12"/>
    <p:sldId id="265" r:id="rId13"/>
    <p:sldId id="266" r:id="rId14"/>
    <p:sldId id="268" r:id="rId15"/>
    <p:sldId id="269" r:id="rId16"/>
    <p:sldId id="271" r:id="rId17"/>
    <p:sldId id="274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38F972D-3A02-497A-9D08-DF27CF173CB4}" styleName="Generic Style 1- Body/Background Dark Color 1">
    <a:tblBg>
      <a:fillRef idx="2">
        <a:schemeClr val="dk1"/>
      </a:fillRef>
      <a:effectRef idx="2">
        <a:schemeClr val="dk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dk1">
                  <a:shade val="61000"/>
                  <a:satMod val="130000"/>
                </a:schemeClr>
              </a:gs>
              <a:gs pos="5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1EDF2F87-84AD-4230-966E-E561DF79DAAB}" styleName="Generic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accent1">
                  <a:shade val="61000"/>
                  <a:satMod val="130000"/>
                </a:schemeClr>
              </a:gs>
              <a:gs pos="5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76" y="685800"/>
            <a:ext cx="6095847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2623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751603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095353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22136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3.png"  /><Relationship Id="rId4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NanumSquare"/>
              </a:rPr>
              <a:t>01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999" y="4610389"/>
            <a:ext cx="10881360" cy="373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f5f8ff"/>
                </a:solidFill>
                <a:latin typeface="NanumSquare"/>
              </a:rPr>
              <a:t>도면 인식 시스템</a:t>
            </a:r>
            <a:endParaRPr sz="25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01/17   01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999" y="5176757"/>
            <a:ext cx="10698481" cy="650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b="1">
                <a:solidFill>
                  <a:srgbClr val="ffd600"/>
                </a:solidFill>
                <a:latin typeface="NanumSquare"/>
              </a:rPr>
              <a:t>2D 도면을 구조화 JSON 으로</a:t>
            </a:r>
            <a:endParaRPr b="1">
              <a:solidFill>
                <a:srgbClr val="ffd600"/>
              </a:solidFill>
              <a:latin typeface="NanumSquare"/>
            </a:endParaRPr>
          </a:p>
          <a:p>
            <a:pPr lvl="0" algn="l">
              <a:lnSpc>
                <a:spcPct val="120000"/>
              </a:lnSpc>
              <a:defRPr/>
            </a:pPr>
            <a:r>
              <a:rPr b="1">
                <a:solidFill>
                  <a:srgbClr val="ffd600"/>
                </a:solidFill>
                <a:latin typeface="NanumSquare"/>
              </a:rPr>
              <a:t>자동 변환하는 시스템 구축 과정</a:t>
            </a:r>
            <a:endParaRPr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29" name="TextBox 3"/>
          <p:cNvSpPr txBox="1"/>
          <p:nvPr/>
        </p:nvSpPr>
        <p:spPr>
          <a:xfrm>
            <a:off x="510669" y="1512107"/>
            <a:ext cx="6981444" cy="1672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7500" b="1">
                <a:solidFill>
                  <a:srgbClr val="ffd600"/>
                </a:solidFill>
                <a:latin typeface="NanumSquare"/>
              </a:rPr>
              <a:t>IMMA</a:t>
            </a:r>
            <a:r>
              <a:rPr lang="en-US" altLang="ko-KR" sz="7500" b="1">
                <a:solidFill>
                  <a:srgbClr val="f5f8ff"/>
                </a:solidFill>
                <a:latin typeface="NanumSquare"/>
              </a:rPr>
              <a:t> </a:t>
            </a:r>
            <a:endParaRPr lang="ko-KR" altLang="en-US" sz="3500" b="1">
              <a:solidFill>
                <a:srgbClr val="f5f8ff"/>
              </a:solidFill>
              <a:latin typeface="NanumSquare"/>
            </a:endParaRPr>
          </a:p>
          <a:p>
            <a:pPr lvl="0" algn="l">
              <a:defRPr/>
            </a:pPr>
            <a:r>
              <a:rPr lang="ko-KR" altLang="en-US" sz="3500" b="1">
                <a:solidFill>
                  <a:srgbClr val="f5f8ff"/>
                </a:solidFill>
                <a:latin typeface="NanumSquare"/>
              </a:rPr>
              <a:t>지능형제조가공매칭플랫폼</a:t>
            </a:r>
            <a:endParaRPr lang="ko-KR" altLang="en-US" sz="3500" b="1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70797" y="1027502"/>
            <a:ext cx="4966435" cy="5074126"/>
          </a:xfrm>
          <a:prstGeom prst="rect">
            <a:avLst/>
          </a:prstGeom>
        </p:spPr>
      </p:pic>
      <p:cxnSp>
        <p:nvCxnSpPr>
          <p:cNvPr id="33" name="선 32"/>
          <p:cNvCxnSpPr/>
          <p:nvPr/>
        </p:nvCxnSpPr>
        <p:spPr>
          <a:xfrm rot="16200000" flipH="1">
            <a:off x="3288235" y="3391743"/>
            <a:ext cx="5975969" cy="16203"/>
          </a:xfrm>
          <a:prstGeom prst="line">
            <a:avLst/>
          </a:prstGeom>
          <a:ln w="3175">
            <a:solidFill>
              <a:srgbClr val="ff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NanumSquare"/>
              </a:rPr>
              <a:t>02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배경 — 2D 도면 </a:t>
            </a:r>
            <a:r>
              <a:rPr lang="ko-KR" altLang="en-US" sz="2700" b="1">
                <a:solidFill>
                  <a:srgbClr val="f5f8ff"/>
                </a:solidFill>
                <a:latin typeface="NanumSquare"/>
              </a:rPr>
              <a:t>인식 기술</a:t>
            </a:r>
            <a:r>
              <a:rPr sz="2700" b="1">
                <a:solidFill>
                  <a:srgbClr val="f5f8ff"/>
                </a:solidFill>
                <a:latin typeface="NanumSquare"/>
              </a:rPr>
              <a:t>의 중요성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607040" cy="17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1200" b="0">
                <a:solidFill>
                  <a:srgbClr val="b0bbcd"/>
                </a:solidFill>
                <a:latin typeface="NanumSquare"/>
              </a:rPr>
              <a:t>제조 </a:t>
            </a:r>
            <a:r>
              <a:rPr lang="en-US" altLang="ko-KR" sz="1200" b="0">
                <a:solidFill>
                  <a:srgbClr val="b0bbcd"/>
                </a:solidFill>
                <a:latin typeface="NanumSquare"/>
              </a:rPr>
              <a:t>AX </a:t>
            </a:r>
            <a:r>
              <a:rPr lang="ko-KR" altLang="en-US" sz="1200" b="0">
                <a:solidFill>
                  <a:srgbClr val="b0bbcd"/>
                </a:solidFill>
                <a:latin typeface="NanumSquare"/>
              </a:rPr>
              <a:t>전환을 위해 도면 인식 기술의 필요성 대두</a:t>
            </a:r>
            <a:endParaRPr lang="ko-KR" altLang="en-US" sz="1200" b="0">
              <a:solidFill>
                <a:srgbClr val="b0bbcd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02/17   02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7" y="6122613"/>
            <a:ext cx="4394176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800" b="0">
                <a:solidFill>
                  <a:srgbClr val="b0bbcd"/>
                </a:solidFill>
                <a:latin typeface="NanumSquare"/>
              </a:rPr>
              <a:t>출처</a:t>
            </a:r>
            <a:r>
              <a:rPr lang="en-US" altLang="ko-KR" sz="800" b="0">
                <a:solidFill>
                  <a:srgbClr val="b0bbcd"/>
                </a:solidFill>
                <a:latin typeface="NanumSquare"/>
              </a:rPr>
              <a:t>: A Multi-Stage Hybrid Framework for Automated Interpretation </a:t>
            </a:r>
            <a:br>
              <a:rPr lang="en-US" altLang="ko-KR" sz="800" b="0">
                <a:solidFill>
                  <a:srgbClr val="b0bbcd"/>
                </a:solidFill>
                <a:latin typeface="NanumSquare"/>
              </a:rPr>
            </a:br>
            <a:r>
              <a:rPr lang="en-US" altLang="ko-KR" sz="800" b="0">
                <a:solidFill>
                  <a:srgbClr val="b0bbcd"/>
                </a:solidFill>
                <a:latin typeface="NanumSquare"/>
              </a:rPr>
              <a:t>of Multi-View Engineering Drawings Using Vision Language Model, Muhammad Tayyab Khan, . </a:t>
            </a:r>
            <a:endParaRPr lang="en-US" altLang="ko-KR" sz="800" b="0">
              <a:solidFill>
                <a:srgbClr val="b0bbcd"/>
              </a:solidFill>
              <a:latin typeface="NanumSquar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669280" cy="54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500" b="1">
                <a:solidFill>
                  <a:srgbClr val="ffd600"/>
                </a:solidFill>
                <a:latin typeface="NanumSquare"/>
              </a:rPr>
              <a:t>★ 2D 도면 = 설계/제조/검수/품질의</a:t>
            </a:r>
            <a:endParaRPr sz="1500" b="1">
              <a:solidFill>
                <a:srgbClr val="ffd600"/>
              </a:solidFill>
              <a:latin typeface="NanumSquare"/>
            </a:endParaRPr>
          </a:p>
          <a:p>
            <a:pPr lvl="0" algn="l">
              <a:lnSpc>
                <a:spcPct val="120000"/>
              </a:lnSpc>
              <a:defRPr/>
            </a:pPr>
            <a:r>
              <a:rPr sz="1500" b="1">
                <a:solidFill>
                  <a:srgbClr val="ffd600"/>
                </a:solidFill>
                <a:latin typeface="NanumSquare"/>
              </a:rPr>
              <a:t>   </a:t>
            </a:r>
            <a:r>
              <a:rPr lang="ko-KR" altLang="en-US" sz="1500" b="1">
                <a:solidFill>
                  <a:srgbClr val="ffd600"/>
                </a:solidFill>
                <a:latin typeface="NanumSquare"/>
              </a:rPr>
              <a:t>본질적인</a:t>
            </a:r>
            <a:r>
              <a:rPr sz="1500" b="1">
                <a:solidFill>
                  <a:srgbClr val="ffd600"/>
                </a:solidFill>
                <a:latin typeface="NanumSquare"/>
              </a:rPr>
              <a:t> 매체</a:t>
            </a:r>
            <a:r>
              <a:rPr lang="ko-KR" altLang="en-US" sz="1500" b="1">
                <a:solidFill>
                  <a:srgbClr val="ffd600"/>
                </a:solidFill>
                <a:latin typeface="NanumSquare"/>
              </a:rPr>
              <a:t> </a:t>
            </a:r>
            <a:endParaRPr lang="en-US" altLang="ko-KR" sz="15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54864" cy="96012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9C896"/>
                </a:solidFill>
                <a:latin typeface="NanumSquare"/>
              </a:rPr>
              <a:t>도면의 manufacturing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5394960" cy="382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GD&amp;T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(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가공기호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)</a:t>
            </a:r>
            <a:r>
              <a:rPr sz="1030" b="0">
                <a:solidFill>
                  <a:srgbClr val="f5f8ff"/>
                </a:solidFill>
                <a:latin typeface="NanumSquare"/>
              </a:rPr>
              <a:t>,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재질</a:t>
            </a:r>
            <a:r>
              <a:rPr sz="1030" b="0">
                <a:solidFill>
                  <a:srgbClr val="f5f8ff"/>
                </a:solidFill>
                <a:latin typeface="NanumSquare"/>
              </a:rPr>
              <a:t>,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치수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,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수량 등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 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→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가공 매칭을 위한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raw data.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9808" y="4069080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4069080"/>
            <a:ext cx="54864" cy="960120"/>
          </a:xfrm>
          <a:prstGeom prst="rect">
            <a:avLst/>
          </a:prstGeom>
          <a:solidFill>
            <a:srgbClr val="FF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15384"/>
            <a:ext cx="5394960" cy="175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1200" b="1">
                <a:solidFill>
                  <a:srgbClr val="ffa84d"/>
                </a:solidFill>
                <a:latin typeface="NanumSquare"/>
              </a:rPr>
              <a:t>기존 기술의</a:t>
            </a:r>
            <a:r>
              <a:rPr sz="1200" b="1">
                <a:solidFill>
                  <a:srgbClr val="ffa84d"/>
                </a:solidFill>
                <a:latin typeface="NanumSquare"/>
              </a:rPr>
              <a:t> 한계</a:t>
            </a:r>
            <a:endParaRPr sz="1200" b="1">
              <a:solidFill>
                <a:srgbClr val="ffa84d"/>
              </a:solidFill>
              <a:latin typeface="NanumSquare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53949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기존의 도면 인식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ai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는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3d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설계 모델에</a:t>
            </a:r>
            <a:r>
              <a:rPr sz="1030" b="0">
                <a:solidFill>
                  <a:srgbClr val="f5f8ff"/>
                </a:solidFill>
                <a:latin typeface="NanumSquare"/>
              </a:rPr>
              <a:t> 한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정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.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실제 가공산업에서는 아직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2D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도면 위주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.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 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5120640"/>
            <a:ext cx="5669280" cy="11887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5120640"/>
            <a:ext cx="54864" cy="1188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66944"/>
            <a:ext cx="5394960" cy="171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1200" b="1">
                <a:solidFill>
                  <a:srgbClr val="ff6b6b"/>
                </a:solidFill>
                <a:latin typeface="NanumSquare"/>
              </a:rPr>
              <a:t>2D</a:t>
            </a:r>
            <a:r>
              <a:rPr lang="ko-KR" altLang="en-US" sz="1200" b="1">
                <a:solidFill>
                  <a:srgbClr val="ff6b6b"/>
                </a:solidFill>
                <a:latin typeface="NanumSquare"/>
              </a:rPr>
              <a:t>도면인식의 산업적 가치</a:t>
            </a:r>
            <a:endParaRPr lang="ko-KR" altLang="en-US" sz="1200" b="1">
              <a:solidFill>
                <a:srgbClr val="ff6b6b"/>
              </a:solidFill>
              <a:latin typeface="NanumSquare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5394960" cy="584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Tesseract OCR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과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같은 기존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OCR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은</a:t>
            </a:r>
            <a:r>
              <a:rPr sz="1030" b="0">
                <a:solidFill>
                  <a:srgbClr val="f5f8ff"/>
                </a:solidFill>
                <a:latin typeface="NanumSquare"/>
              </a:rPr>
              <a:t> numerical 3.43%, hallucination 72%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등 성능 문제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Generic VLM (GPT-4o, Qwen2-VL): 회전/특수 symbol 처리 X</a:t>
            </a:r>
            <a:endParaRPr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Gemini 3.1 pro, claude Opus 4.7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은 준수한 도면 인식 성능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.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그러나 산업 사용에는 비용문제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6560" y="4041648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NanumSquare"/>
              </a:rPr>
              <a:t>이미지 삽입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56248" y="3006240"/>
            <a:ext cx="5413522" cy="3116373"/>
          </a:xfrm>
          <a:prstGeom prst="rect">
            <a:avLst/>
          </a:prstGeom>
        </p:spPr>
      </p:pic>
      <p:sp>
        <p:nvSpPr>
          <p:cNvPr id="34" name="Rounded Rectangle 10"/>
          <p:cNvSpPr/>
          <p:nvPr/>
        </p:nvSpPr>
        <p:spPr>
          <a:xfrm>
            <a:off x="4504604" y="1338969"/>
            <a:ext cx="2324586" cy="137160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Rectangle 11"/>
          <p:cNvSpPr/>
          <p:nvPr/>
        </p:nvSpPr>
        <p:spPr>
          <a:xfrm>
            <a:off x="4504604" y="1338969"/>
            <a:ext cx="54864" cy="1371600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12"/>
          <p:cNvSpPr txBox="1"/>
          <p:nvPr/>
        </p:nvSpPr>
        <p:spPr>
          <a:xfrm>
            <a:off x="4669196" y="1485273"/>
            <a:ext cx="242316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5991ff"/>
                </a:solidFill>
                <a:latin typeface="NanumSquare"/>
              </a:rPr>
              <a:t>입력</a:t>
            </a:r>
            <a:endParaRPr sz="1200" b="1">
              <a:solidFill>
                <a:srgbClr val="5991ff"/>
              </a:solidFill>
              <a:latin typeface="NanumSquare"/>
            </a:endParaRPr>
          </a:p>
        </p:txBody>
      </p:sp>
      <p:sp>
        <p:nvSpPr>
          <p:cNvPr id="37" name="TextBox 13"/>
          <p:cNvSpPr txBox="1"/>
          <p:nvPr/>
        </p:nvSpPr>
        <p:spPr>
          <a:xfrm>
            <a:off x="4669196" y="1796169"/>
            <a:ext cx="2423160" cy="586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2D 도면</a:t>
            </a:r>
            <a:endParaRPr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PNG/JPG, 일본어/한국어/한자/영문 mixed</a:t>
            </a:r>
            <a:endParaRPr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38" name="Rounded Rectangle 14"/>
          <p:cNvSpPr/>
          <p:nvPr/>
        </p:nvSpPr>
        <p:spPr>
          <a:xfrm>
            <a:off x="6889784" y="1335024"/>
            <a:ext cx="2373225" cy="137160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Rectangle 15"/>
          <p:cNvSpPr/>
          <p:nvPr/>
        </p:nvSpPr>
        <p:spPr>
          <a:xfrm>
            <a:off x="6889784" y="1335024"/>
            <a:ext cx="54864" cy="137160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Box 16"/>
          <p:cNvSpPr txBox="1"/>
          <p:nvPr/>
        </p:nvSpPr>
        <p:spPr>
          <a:xfrm>
            <a:off x="7054375" y="1481327"/>
            <a:ext cx="2423160" cy="176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49c896"/>
                </a:solidFill>
                <a:latin typeface="NanumSquare"/>
              </a:rPr>
              <a:t>출력</a:t>
            </a:r>
            <a:endParaRPr sz="1200" b="1">
              <a:solidFill>
                <a:srgbClr val="49c896"/>
              </a:solidFill>
              <a:latin typeface="NanumSquare"/>
            </a:endParaRPr>
          </a:p>
        </p:txBody>
      </p:sp>
      <p:sp>
        <p:nvSpPr>
          <p:cNvPr id="41" name="TextBox 17"/>
          <p:cNvSpPr txBox="1"/>
          <p:nvPr/>
        </p:nvSpPr>
        <p:spPr>
          <a:xfrm>
            <a:off x="7054375" y="1792223"/>
            <a:ext cx="2423160" cy="389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Raw JSON Schema</a:t>
            </a:r>
            <a:endParaRPr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TB 15 fields + View + Notes + Table</a:t>
            </a:r>
            <a:endParaRPr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42" name="Rounded Rectangle 18"/>
          <p:cNvSpPr/>
          <p:nvPr/>
        </p:nvSpPr>
        <p:spPr>
          <a:xfrm>
            <a:off x="9312943" y="1338969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Rectangle 19"/>
          <p:cNvSpPr/>
          <p:nvPr/>
        </p:nvSpPr>
        <p:spPr>
          <a:xfrm>
            <a:off x="9312943" y="1338969"/>
            <a:ext cx="54864" cy="13716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TextBox 20"/>
          <p:cNvSpPr txBox="1"/>
          <p:nvPr/>
        </p:nvSpPr>
        <p:spPr>
          <a:xfrm>
            <a:off x="9477535" y="1485273"/>
            <a:ext cx="2423160" cy="17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ffd600"/>
                </a:solidFill>
                <a:latin typeface="NanumSquare"/>
              </a:rPr>
              <a:t>목적</a:t>
            </a:r>
            <a:endParaRPr sz="12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5" name="TextBox 21"/>
          <p:cNvSpPr txBox="1"/>
          <p:nvPr/>
        </p:nvSpPr>
        <p:spPr>
          <a:xfrm>
            <a:off x="9477535" y="1796169"/>
            <a:ext cx="2423160" cy="385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도면 원본 정보를 후속 변환이 가능한 디지털 형태로 도면 정보를 옮기는 것</a:t>
            </a:r>
            <a:endParaRPr sz="1030" b="0">
              <a:solidFill>
                <a:srgbClr val="f5f8ff"/>
              </a:solidFill>
              <a:latin typeface="NanumSquare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NanumSquare"/>
              </a:rPr>
              <a:t>03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2700" b="1">
                <a:solidFill>
                  <a:srgbClr val="f5f8ff"/>
                </a:solidFill>
                <a:latin typeface="NanumSquare"/>
              </a:rPr>
              <a:t>목표</a:t>
            </a:r>
            <a:r>
              <a:rPr sz="2700" b="1">
                <a:solidFill>
                  <a:srgbClr val="f5f8ff"/>
                </a:solidFill>
                <a:latin typeface="NanumSquare"/>
              </a:rPr>
              <a:t> + Research</a:t>
            </a:r>
            <a:r>
              <a:rPr lang="en-US" altLang="ko-KR" sz="2700" b="1">
                <a:solidFill>
                  <a:srgbClr val="f5f8ff"/>
                </a:solidFill>
                <a:latin typeface="NanumSquare"/>
              </a:rPr>
              <a:t> Gaps</a:t>
            </a:r>
            <a:endParaRPr lang="en-US" altLang="ko-KR"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607040" cy="17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1200" b="0">
                <a:solidFill>
                  <a:srgbClr val="b0bbcd"/>
                </a:solidFill>
                <a:latin typeface="NanumSquare"/>
              </a:rPr>
              <a:t>도면 인식 시스템</a:t>
            </a:r>
            <a:r>
              <a:rPr sz="1200" b="0">
                <a:solidFill>
                  <a:srgbClr val="b0bbcd"/>
                </a:solidFill>
                <a:latin typeface="NanumSquare"/>
              </a:rPr>
              <a:t> — 본 프로젝트</a:t>
            </a:r>
            <a:r>
              <a:rPr lang="ko-KR" altLang="en-US" sz="1200" b="0">
                <a:solidFill>
                  <a:srgbClr val="b0bbcd"/>
                </a:solidFill>
                <a:latin typeface="NanumSquare"/>
              </a:rPr>
              <a:t>에서</a:t>
            </a:r>
            <a:r>
              <a:rPr sz="1200" b="0">
                <a:solidFill>
                  <a:srgbClr val="b0bbcd"/>
                </a:solidFill>
                <a:latin typeface="NanumSquare"/>
              </a:rPr>
              <a:t> 해결하려는 2가지 challenge</a:t>
            </a:r>
            <a:endParaRPr sz="1200" b="0">
              <a:solidFill>
                <a:srgbClr val="b0bbcd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03/17   03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6607" y="1827299"/>
            <a:ext cx="3520440" cy="1796682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46607" y="1827299"/>
            <a:ext cx="54864" cy="1796682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11199" y="1973603"/>
            <a:ext cx="3246120" cy="179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5991ff"/>
                </a:solidFill>
                <a:latin typeface="NanumSquare"/>
              </a:rPr>
              <a:t>Challenge 1 (Detection)</a:t>
            </a:r>
            <a:endParaRPr sz="1200" b="1">
              <a:solidFill>
                <a:srgbClr val="5991ff"/>
              </a:solidFill>
              <a:latin typeface="NanumSquar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1199" y="2284499"/>
            <a:ext cx="3246120" cy="773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도면 인식 논문을 베이스로 논문 재현 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2025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년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Singapore Institute of Manufacturing Technology (SIMTech), Agency for Science, Technol-ogy and Research (A*STAR)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04207" y="1827299"/>
            <a:ext cx="3520440" cy="1796682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Rectangle 14"/>
          <p:cNvSpPr/>
          <p:nvPr/>
        </p:nvSpPr>
        <p:spPr>
          <a:xfrm>
            <a:off x="4404207" y="1827299"/>
            <a:ext cx="54864" cy="1796682"/>
          </a:xfrm>
          <a:prstGeom prst="rect">
            <a:avLst/>
          </a:prstGeom>
          <a:solidFill>
            <a:srgbClr val="ff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568799" y="1973603"/>
            <a:ext cx="3246120" cy="179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ffa84d"/>
                </a:solidFill>
                <a:latin typeface="NanumSquare"/>
              </a:rPr>
              <a:t>Challenge 2 (Parsing)</a:t>
            </a:r>
            <a:endParaRPr sz="1200" b="1">
              <a:solidFill>
                <a:srgbClr val="ffa84d"/>
              </a:solidFill>
              <a:latin typeface="NanumSquar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68799" y="2225848"/>
            <a:ext cx="3246120" cy="973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yolo 26, qwen3-vl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등 최신 모델로 개선된 성능을 구현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학습 언어를 일본어로 통일해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한자와 일본어에 특화된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Qwen3-VL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-FT, Nemotron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등을 적용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61808" y="1827299"/>
            <a:ext cx="3429000" cy="1796682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8061807" y="1827299"/>
            <a:ext cx="54864" cy="1796682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226399" y="1973603"/>
            <a:ext cx="3154679" cy="179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ffd600"/>
                </a:solidFill>
                <a:latin typeface="NanumSquare"/>
              </a:rPr>
              <a:t>본 프로젝트 가설</a:t>
            </a:r>
            <a:endParaRPr sz="12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6399" y="2284499"/>
            <a:ext cx="3154679" cy="382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최신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VLM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모델의 성능을 통해 같은 아키텍쳐여도 성능 개선이 가능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.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47831" y="4140627"/>
            <a:ext cx="5275303" cy="1791612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11378" y="4140374"/>
            <a:ext cx="5279430" cy="1791865"/>
          </a:xfrm>
          <a:prstGeom prst="rect">
            <a:avLst/>
          </a:prstGeom>
        </p:spPr>
      </p:pic>
      <p:sp>
        <p:nvSpPr>
          <p:cNvPr id="40" name="TextBox 20"/>
          <p:cNvSpPr txBox="1"/>
          <p:nvPr/>
        </p:nvSpPr>
        <p:spPr>
          <a:xfrm>
            <a:off x="8226398" y="2866274"/>
            <a:ext cx="3154680" cy="191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제한된 데이터셋을 아키텍쳐를 통해 성능 개선이 가능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.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04 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Detection</a:t>
            </a:r>
            <a:endParaRPr lang="en-US" altLang="ko-KR"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데이터셋 개요</a:t>
            </a:r>
            <a:r>
              <a:rPr lang="ko-KR" altLang="en-US" sz="2700" b="1">
                <a:solidFill>
                  <a:srgbClr val="f5f8ff"/>
                </a:solidFill>
                <a:latin typeface="NanumSquare"/>
              </a:rPr>
              <a:t> </a:t>
            </a:r>
            <a:r>
              <a:rPr lang="en-US" altLang="ko-KR" sz="2700" b="1">
                <a:solidFill>
                  <a:srgbClr val="f5f8ff"/>
                </a:solidFill>
                <a:latin typeface="NanumSquare"/>
              </a:rPr>
              <a:t>+</a:t>
            </a:r>
            <a:r>
              <a:rPr lang="ko-KR" altLang="en-US" sz="2700" b="1">
                <a:solidFill>
                  <a:srgbClr val="f5f8ff"/>
                </a:solidFill>
                <a:latin typeface="NanumSquare"/>
              </a:rPr>
              <a:t> </a:t>
            </a:r>
            <a:r>
              <a:rPr lang="en-US" altLang="ko-KR" sz="2700" b="1">
                <a:solidFill>
                  <a:srgbClr val="f5f8ff"/>
                </a:solidFill>
                <a:latin typeface="NanumSquare"/>
              </a:rPr>
              <a:t>stage 1 (region detection) </a:t>
            </a:r>
            <a:endParaRPr lang="en-US" altLang="ko-KR"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04/17   04 CONTRIBUTION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" y="1541590"/>
            <a:ext cx="4709160" cy="985463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Rectangle 35"/>
          <p:cNvSpPr/>
          <p:nvPr/>
        </p:nvSpPr>
        <p:spPr>
          <a:xfrm>
            <a:off x="768096" y="1541590"/>
            <a:ext cx="54864" cy="985463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932688" y="1687894"/>
            <a:ext cx="4434840" cy="17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1200" b="1">
                <a:solidFill>
                  <a:srgbClr val="ffd600"/>
                </a:solidFill>
                <a:latin typeface="NanumSquare"/>
              </a:rPr>
              <a:t>원본 </a:t>
            </a:r>
            <a:r>
              <a:rPr sz="1200" b="1">
                <a:solidFill>
                  <a:srgbClr val="ffd600"/>
                </a:solidFill>
                <a:latin typeface="NanumSquare"/>
              </a:rPr>
              <a:t>데이터셋</a:t>
            </a:r>
            <a:endParaRPr sz="12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5255" y="2174513"/>
            <a:ext cx="4434840" cy="196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30" b="0">
                <a:solidFill>
                  <a:srgbClr val="f5f8ff"/>
                </a:solidFill>
                <a:latin typeface="NanumSquare"/>
              </a:rPr>
              <a:t>Roboflow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의</a:t>
            </a:r>
            <a:r>
              <a:rPr sz="1030" b="0">
                <a:solidFill>
                  <a:srgbClr val="f5f8ff"/>
                </a:solidFill>
                <a:latin typeface="NanumSquare"/>
              </a:rPr>
              <a:t> 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일본어</a:t>
            </a:r>
            <a:r>
              <a:rPr sz="1030" b="0">
                <a:solidFill>
                  <a:srgbClr val="f5f8ff"/>
                </a:solidFill>
                <a:latin typeface="NanumSquare"/>
              </a:rPr>
              <a:t> 1,500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개</a:t>
            </a:r>
            <a:r>
              <a:rPr sz="1030" b="0">
                <a:solidFill>
                  <a:srgbClr val="f5f8ff"/>
                </a:solidFill>
                <a:latin typeface="NanumSquare"/>
              </a:rPr>
              <a:t> 도면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(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학습을 위해 생성된 가상 도면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,</a:t>
            </a: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 고해상도</a:t>
            </a:r>
            <a:r>
              <a:rPr lang="en-US" altLang="ko-KR" sz="1030" b="0">
                <a:solidFill>
                  <a:srgbClr val="f5f8ff"/>
                </a:solidFill>
                <a:latin typeface="NanumSquare"/>
              </a:rPr>
              <a:t>)</a:t>
            </a:r>
            <a:endParaRPr lang="en-US" altLang="ko-KR" sz="1030" b="0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95528" y="4230057"/>
            <a:ext cx="2397492" cy="1858335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104187" y="3620388"/>
            <a:ext cx="4099964" cy="2467940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5"/>
          <a:srcRect b="11270"/>
          <a:stretch>
            <a:fillRect/>
          </a:stretch>
        </p:blipFill>
        <p:spPr>
          <a:xfrm>
            <a:off x="7104187" y="1624978"/>
            <a:ext cx="4102379" cy="180402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295975" y="4232208"/>
            <a:ext cx="2780883" cy="1856185"/>
          </a:xfrm>
          <a:prstGeom prst="rect">
            <a:avLst/>
          </a:prstGeom>
        </p:spPr>
      </p:pic>
      <p:sp>
        <p:nvSpPr>
          <p:cNvPr id="46" name="Rounded Rectangle 10"/>
          <p:cNvSpPr/>
          <p:nvPr/>
        </p:nvSpPr>
        <p:spPr>
          <a:xfrm>
            <a:off x="768096" y="2780347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7" name="Rectangle 11"/>
          <p:cNvSpPr/>
          <p:nvPr/>
        </p:nvSpPr>
        <p:spPr>
          <a:xfrm>
            <a:off x="768096" y="2780347"/>
            <a:ext cx="54864" cy="96012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TextBox 12"/>
          <p:cNvSpPr txBox="1"/>
          <p:nvPr/>
        </p:nvSpPr>
        <p:spPr>
          <a:xfrm>
            <a:off x="932688" y="2926651"/>
            <a:ext cx="5394960" cy="17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1200" b="1">
                <a:solidFill>
                  <a:srgbClr val="49c896"/>
                </a:solidFill>
                <a:latin typeface="NanumSquare"/>
              </a:rPr>
              <a:t>Stage 1 핵심 — V.A YOLOv11 5-class Region Detection</a:t>
            </a:r>
            <a:endParaRPr lang="ko-KR" altLang="en-US" sz="1200" b="1">
              <a:solidFill>
                <a:srgbClr val="49c896"/>
              </a:solidFill>
              <a:latin typeface="NanumSquare"/>
            </a:endParaRPr>
          </a:p>
        </p:txBody>
      </p:sp>
      <p:sp>
        <p:nvSpPr>
          <p:cNvPr id="49" name="TextBox 13"/>
          <p:cNvSpPr txBox="1"/>
          <p:nvPr/>
        </p:nvSpPr>
        <p:spPr>
          <a:xfrm>
            <a:off x="932688" y="3237547"/>
            <a:ext cx="5394960" cy="382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• mAP@0.5 = 0.86 (Roboflow JP 1,500 도면 학습)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ko-KR" altLang="en-US" sz="1030" b="0">
                <a:solidFill>
                  <a:srgbClr val="f5f8ff"/>
                </a:solidFill>
                <a:latin typeface="NanumSquare"/>
              </a:rPr>
              <a:t>• V.A ckpt 그대로 최종버전까지 재사용</a:t>
            </a:r>
            <a:endParaRPr lang="ko-KR" altLang="en-US" sz="1030" b="0">
              <a:solidFill>
                <a:srgbClr val="f5f8ff"/>
              </a:solidFill>
              <a:latin typeface="NanumSquare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0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5</a:t>
            </a:r>
            <a:r>
              <a:rPr sz="900" b="1">
                <a:solidFill>
                  <a:srgbClr val="ffd600"/>
                </a:solidFill>
                <a:latin typeface="NanumSquare"/>
              </a:rPr>
              <a:t> 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Parsing</a:t>
            </a:r>
            <a:endParaRPr lang="en-US" altLang="ko-KR"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2700" b="1">
                <a:solidFill>
                  <a:srgbClr val="f5f8ff"/>
                </a:solidFill>
                <a:latin typeface="NanumSquare"/>
              </a:rPr>
              <a:t>stage 2 (region detection) </a:t>
            </a:r>
            <a:endParaRPr lang="en-US" altLang="ko-KR"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1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720" b="0">
                <a:solidFill>
                  <a:srgbClr val="b0bbcd"/>
                </a:solidFill>
                <a:latin typeface="NanumSquare"/>
              </a:rPr>
              <a:t>04/17   0</a:t>
            </a:r>
            <a:r>
              <a:rPr lang="en-US" altLang="ko-KR" sz="720" b="0">
                <a:solidFill>
                  <a:srgbClr val="b0bbcd"/>
                </a:solidFill>
                <a:latin typeface="NanumSquare"/>
              </a:rPr>
              <a:t>5</a:t>
            </a:r>
            <a:r>
              <a:rPr sz="720" b="0">
                <a:solidFill>
                  <a:srgbClr val="b0bbcd"/>
                </a:solidFill>
                <a:latin typeface="NanumSquare"/>
              </a:rPr>
              <a:t> CONTRIBUTION</a:t>
            </a:r>
            <a:endParaRPr sz="720" b="0">
              <a:solidFill>
                <a:srgbClr val="b0bbcd"/>
              </a:solidFill>
              <a:latin typeface="NanumSquare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3"/>
          <a:srcRect b="53590"/>
          <a:stretch>
            <a:fillRect/>
          </a:stretch>
        </p:blipFill>
        <p:spPr>
          <a:xfrm>
            <a:off x="566928" y="1454711"/>
            <a:ext cx="8275053" cy="1372636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968621" y="2892655"/>
            <a:ext cx="4914900" cy="2383054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5"/>
          <a:srcRect b="14510"/>
          <a:stretch>
            <a:fillRect/>
          </a:stretch>
        </p:blipFill>
        <p:spPr>
          <a:xfrm>
            <a:off x="566928" y="3326026"/>
            <a:ext cx="6355871" cy="2984785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6"/>
          <a:srcRect l="1860" t="85970" r="26410"/>
          <a:stretch>
            <a:fillRect/>
          </a:stretch>
        </p:blipFill>
        <p:spPr>
          <a:xfrm>
            <a:off x="6968621" y="5322968"/>
            <a:ext cx="5223074" cy="987844"/>
          </a:xfrm>
          <a:prstGeom prst="rect">
            <a:avLst/>
          </a:prstGeom>
        </p:spPr>
      </p:pic>
      <p:sp>
        <p:nvSpPr>
          <p:cNvPr id="50" name="Rounded Rectangle 34"/>
          <p:cNvSpPr/>
          <p:nvPr/>
        </p:nvSpPr>
        <p:spPr>
          <a:xfrm>
            <a:off x="6968621" y="4406333"/>
            <a:ext cx="4914900" cy="877394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1" name="Rectangle 35"/>
          <p:cNvSpPr/>
          <p:nvPr/>
        </p:nvSpPr>
        <p:spPr>
          <a:xfrm>
            <a:off x="6968621" y="4406333"/>
            <a:ext cx="54864" cy="87739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TextBox 36"/>
          <p:cNvSpPr txBox="1"/>
          <p:nvPr/>
        </p:nvSpPr>
        <p:spPr>
          <a:xfrm>
            <a:off x="7104888" y="4455755"/>
            <a:ext cx="4434840" cy="163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1100" b="1">
                <a:solidFill>
                  <a:srgbClr val="ffd600"/>
                </a:solidFill>
                <a:latin typeface="NanumSquare"/>
              </a:rPr>
              <a:t>YOLO 26 OBB </a:t>
            </a:r>
            <a:r>
              <a:rPr lang="ko-KR" altLang="en-US" sz="1100" b="1">
                <a:solidFill>
                  <a:srgbClr val="ffd600"/>
                </a:solidFill>
                <a:latin typeface="NanumSquare"/>
              </a:rPr>
              <a:t>폐기</a:t>
            </a:r>
            <a:endParaRPr lang="ko-KR" altLang="en-US" sz="11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53" name="TextBox 37"/>
          <p:cNvSpPr txBox="1"/>
          <p:nvPr/>
        </p:nvSpPr>
        <p:spPr>
          <a:xfrm>
            <a:off x="7105780" y="4674376"/>
            <a:ext cx="4434840" cy="601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800" b="0">
                <a:solidFill>
                  <a:srgbClr val="f5f8ff"/>
                </a:solidFill>
                <a:latin typeface="NanumSquare"/>
              </a:rPr>
              <a:t> CVAT 로 844 crops / 1026 boxes 직접 라벨링. 5-Fold Ensemble mean mAP 0.932 달성. </a:t>
            </a:r>
            <a:r>
              <a:rPr lang="en-US" altLang="ko-KR" sz="800" b="0">
                <a:solidFill>
                  <a:srgbClr val="f5f8ff"/>
                </a:solidFill>
                <a:latin typeface="NanumSquare"/>
              </a:rPr>
              <a:t>(V.A 5-class det ckpt 가 mAP 0.86)</a:t>
            </a:r>
            <a:endParaRPr lang="en-US" altLang="ko-KR" sz="8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lang="ko-KR" altLang="en-US" sz="800" b="0">
                <a:solidFill>
                  <a:srgbClr val="f5f8ff"/>
                </a:solidFill>
                <a:latin typeface="NanumSquare"/>
              </a:rPr>
              <a:t>그러나 OBB 학습 데이터가 본질적으로 부족</a:t>
            </a:r>
            <a:r>
              <a:rPr lang="en-US" altLang="ko-KR" sz="800" b="0">
                <a:solidFill>
                  <a:srgbClr val="f5f8ff"/>
                </a:solidFill>
                <a:latin typeface="NanumSquare"/>
              </a:rPr>
              <a:t>(</a:t>
            </a:r>
            <a:r>
              <a:rPr lang="ko-KR" altLang="en-US" sz="800" b="0">
                <a:solidFill>
                  <a:srgbClr val="f5f8ff"/>
                </a:solidFill>
                <a:latin typeface="NanumSquare"/>
              </a:rPr>
              <a:t>회전 케이스 빈약</a:t>
            </a:r>
            <a:r>
              <a:rPr lang="en-US" altLang="ko-KR" sz="800" b="0">
                <a:solidFill>
                  <a:srgbClr val="f5f8ff"/>
                </a:solidFill>
                <a:latin typeface="NanumSquare"/>
              </a:rPr>
              <a:t>).</a:t>
            </a:r>
            <a:r>
              <a:rPr lang="ko-KR" altLang="en-US" sz="800" b="0">
                <a:solidFill>
                  <a:srgbClr val="f5f8ff"/>
                </a:solidFill>
                <a:latin typeface="NanumSquare"/>
              </a:rPr>
              <a:t> 따라서 폐기 후 </a:t>
            </a:r>
            <a:r>
              <a:rPr lang="en-US" altLang="ko-KR" sz="800" b="0">
                <a:solidFill>
                  <a:srgbClr val="f5f8ff"/>
                </a:solidFill>
                <a:latin typeface="NanumSquare"/>
              </a:rPr>
              <a:t>yolo 11 5-class det ckpt </a:t>
            </a:r>
            <a:r>
              <a:rPr lang="ko-KR" altLang="en-US" sz="800" b="0">
                <a:solidFill>
                  <a:srgbClr val="f5f8ff"/>
                </a:solidFill>
                <a:latin typeface="NanumSquare"/>
              </a:rPr>
              <a:t>로도</a:t>
            </a:r>
            <a:r>
              <a:rPr lang="en-US" altLang="ko-KR" sz="800" b="0">
                <a:solidFill>
                  <a:srgbClr val="f5f8ff"/>
                </a:solidFill>
                <a:latin typeface="NanumSquare"/>
              </a:rPr>
              <a:t> </a:t>
            </a:r>
            <a:r>
              <a:rPr lang="ko-KR" altLang="en-US" sz="800" b="0">
                <a:solidFill>
                  <a:srgbClr val="f5f8ff"/>
                </a:solidFill>
                <a:latin typeface="NanumSquare"/>
              </a:rPr>
              <a:t>성능은 충분해 </a:t>
            </a:r>
            <a:r>
              <a:rPr lang="en-US" altLang="ko-KR" sz="800" b="0">
                <a:solidFill>
                  <a:srgbClr val="f5f8ff"/>
                </a:solidFill>
                <a:latin typeface="NanumSquare"/>
              </a:rPr>
              <a:t>fix.</a:t>
            </a:r>
            <a:endParaRPr lang="en-US" altLang="ko-KR" sz="800" b="0">
              <a:solidFill>
                <a:srgbClr val="f5f8ff"/>
              </a:solidFill>
              <a:latin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351452938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0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6</a:t>
            </a:r>
            <a:r>
              <a:rPr sz="900" b="1">
                <a:solidFill>
                  <a:srgbClr val="ffd600"/>
                </a:solidFill>
                <a:latin typeface="NanumSquare"/>
              </a:rPr>
              <a:t> 4-CAUSE CHAIN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" y="531263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4-Cause Chain — 데이터셋 문제 + 해결 방법 유효 이유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8368" y="955548"/>
            <a:ext cx="10803121" cy="5818282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0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7</a:t>
            </a:r>
            <a:r>
              <a:rPr sz="900" b="1">
                <a:solidFill>
                  <a:srgbClr val="ffd600"/>
                </a:solidFill>
                <a:latin typeface="NanumSquare"/>
              </a:rPr>
              <a:t> DATA EVOLUTION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원본 Roboflow 도면셋 → 학습 데이터 </a:t>
            </a:r>
            <a:r>
              <a:rPr lang="ko-KR" altLang="en-US" sz="2700" b="1">
                <a:solidFill>
                  <a:srgbClr val="f5f8ff"/>
                </a:solidFill>
                <a:latin typeface="NanumSquare"/>
              </a:rPr>
              <a:t>전처리 </a:t>
            </a:r>
            <a:r>
              <a:rPr sz="2700" b="1">
                <a:solidFill>
                  <a:srgbClr val="f5f8ff"/>
                </a:solidFill>
                <a:latin typeface="NanumSquare"/>
              </a:rPr>
              <a:t>변화 흐름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06/17   06 DATA EVOLUTION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rcRect b="16690"/>
          <a:stretch>
            <a:fillRect/>
          </a:stretch>
        </p:blipFill>
        <p:spPr>
          <a:xfrm>
            <a:off x="281109" y="1220444"/>
            <a:ext cx="11629780" cy="51327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0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9</a:t>
            </a:r>
            <a:r>
              <a:rPr sz="900" b="1">
                <a:solidFill>
                  <a:srgbClr val="ffd600"/>
                </a:solidFill>
                <a:latin typeface="NanumSquare"/>
              </a:rPr>
              <a:t> MODEL COMPARISON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모델별 비교 — 모델 선정 이유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07/17   07 MODEL COMPARISON</a:t>
            </a: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66928" y="971549"/>
            <a:ext cx="10176020" cy="53563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0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8</a:t>
            </a:r>
            <a:r>
              <a:rPr sz="900" b="1">
                <a:solidFill>
                  <a:srgbClr val="ffd600"/>
                </a:solidFill>
                <a:latin typeface="NanumSquare"/>
              </a:rPr>
              <a:t> MODEL COMPARISON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모델별 비교 — 모델 선정 이유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720" b="0">
                <a:solidFill>
                  <a:srgbClr val="b0bbcd"/>
                </a:solidFill>
                <a:latin typeface="NanumSquare"/>
              </a:rPr>
              <a:t>07/17   07 MODEL COMPARISON</a:t>
            </a:r>
            <a:endParaRPr sz="720" b="0">
              <a:solidFill>
                <a:srgbClr val="b0bbcd"/>
              </a:solidFill>
              <a:latin typeface="NanumSquare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11812" y="3045003"/>
            <a:ext cx="6023980" cy="3204890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0907" y="1556967"/>
            <a:ext cx="4520705" cy="2695206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70908" y="4351551"/>
            <a:ext cx="4520706" cy="1898343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604325" y="1120062"/>
            <a:ext cx="4831468" cy="1582659"/>
          </a:xfrm>
          <a:prstGeom prst="rect">
            <a:avLst/>
          </a:prstGeom>
        </p:spPr>
      </p:pic>
      <p:sp>
        <p:nvSpPr>
          <p:cNvPr id="58" name="가로 글상자 57"/>
          <p:cNvSpPr txBox="1"/>
          <p:nvPr/>
        </p:nvSpPr>
        <p:spPr>
          <a:xfrm>
            <a:off x="6519526" y="2702722"/>
            <a:ext cx="5162086" cy="201848"/>
          </a:xfrm>
          <a:prstGeom prst="rect">
            <a:avLst/>
          </a:prstGeom>
        </p:spPr>
        <p:txBody>
          <a:bodyPr wrap="square"/>
          <a:p>
            <a:pPr lvl="0">
              <a:defRPr/>
            </a:pPr>
            <a:r>
              <a:rPr lang="en-US" altLang="ko-KR" sz="700">
                <a:solidFill>
                  <a:schemeClr val="lt1"/>
                </a:solidFill>
              </a:rPr>
              <a:t>Muhammad Tayyab Khan,2026,From Drawings to Decisions: A Hybrid Vision-Language Framework for Parsing 2D Engineering Drawings into Structured Manufacturing Knowledge </a:t>
            </a:r>
            <a:r>
              <a:rPr lang="ko-KR" altLang="en-US" sz="700">
                <a:solidFill>
                  <a:schemeClr val="lt1"/>
                </a:solidFill>
              </a:rPr>
              <a:t>의 모델 구조</a:t>
            </a:r>
            <a:endParaRPr lang="ko-KR" altLang="en-US" sz="7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80454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10</a:t>
            </a:r>
            <a:r>
              <a:rPr sz="900" b="1">
                <a:solidFill>
                  <a:srgbClr val="ffd600"/>
                </a:solidFill>
                <a:latin typeface="NanumSquare"/>
              </a:rPr>
              <a:t> V.F-2 ARCHITECTURE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NanumSquare"/>
              </a:rPr>
              <a:t>V.F-2 LOCAL 최종 Architecture — 3-Model Hybrid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09/17   09 V.F-2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" y="1083564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49807" y="1083564"/>
            <a:ext cx="54864" cy="777240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14399" y="1229868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5991ff"/>
                </a:solidFill>
                <a:latin typeface="NanumSquare"/>
              </a:rPr>
              <a:t>Input → Stage 1: Detection</a:t>
            </a:r>
            <a:endParaRPr sz="1200" b="1">
              <a:solidFill>
                <a:srgbClr val="5991ff"/>
              </a:solidFill>
              <a:latin typeface="NanumSquar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399" y="1540764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Input 2D 도면 → YOLOv11 Detection (V.A ckpt, mAP 0.86, 5-class)</a:t>
            </a:r>
            <a:endParaRPr sz="100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44768" y="1083564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Rectangle 14"/>
          <p:cNvSpPr/>
          <p:nvPr/>
        </p:nvSpPr>
        <p:spPr>
          <a:xfrm>
            <a:off x="6144768" y="1083564"/>
            <a:ext cx="54864" cy="77724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309359" y="1229868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49c896"/>
                </a:solidFill>
                <a:latin typeface="NanumSquare"/>
              </a:rPr>
              <a:t>Stage 2: Region Crop + Hybrid Routing</a:t>
            </a:r>
            <a:endParaRPr sz="1200" b="1">
              <a:solidFill>
                <a:srgbClr val="49c896"/>
              </a:solidFill>
              <a:latin typeface="NanumSquar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59" y="1540764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영역별 best model 분기 → Hybrid JSON Output</a:t>
            </a:r>
            <a:endParaRPr sz="100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7" y="1997964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749807" y="1997964"/>
            <a:ext cx="54864" cy="1188720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14399" y="2144268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5991ff"/>
                </a:solidFill>
                <a:latin typeface="NanumSquare"/>
              </a:rPr>
              <a:t>Notes</a:t>
            </a:r>
            <a:endParaRPr sz="1200" b="1">
              <a:solidFill>
                <a:srgbClr val="5991ff"/>
              </a:solidFill>
              <a:latin typeface="NanumSquare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399" y="2455164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Qwen3-VL-2B FT</a:t>
            </a:r>
            <a:endParaRPr sz="10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(한자 강점)</a:t>
            </a:r>
            <a:endParaRPr sz="10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Pro Judge 65 ★</a:t>
            </a:r>
            <a:endParaRPr sz="100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840" y="1997964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Rectangle 22"/>
          <p:cNvSpPr/>
          <p:nvPr/>
        </p:nvSpPr>
        <p:spPr>
          <a:xfrm>
            <a:off x="4434840" y="1997964"/>
            <a:ext cx="54864" cy="118872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599431" y="2144268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49c896"/>
                </a:solidFill>
                <a:latin typeface="NanumSquare"/>
              </a:rPr>
              <a:t>View + TB</a:t>
            </a:r>
            <a:endParaRPr sz="1200" b="1">
              <a:solidFill>
                <a:srgbClr val="49c896"/>
              </a:solidFill>
              <a:latin typeface="NanumSquare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9431" y="2455164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Donut FT</a:t>
            </a:r>
            <a:endParaRPr sz="10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(Swin-B + BART)</a:t>
            </a:r>
            <a:endParaRPr sz="10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TB 46 ★ / View 15</a:t>
            </a:r>
            <a:endParaRPr sz="1000" b="0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73568" y="1997964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7973568" y="1997964"/>
            <a:ext cx="54864" cy="1188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138160" y="2144268"/>
            <a:ext cx="3246120" cy="179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ffd600"/>
                </a:solidFill>
                <a:latin typeface="NanumSquare"/>
              </a:rPr>
              <a:t>TB </a:t>
            </a:r>
            <a:r>
              <a:rPr lang="ko-KR" altLang="en-US" sz="1200" b="1">
                <a:solidFill>
                  <a:srgbClr val="ffd600"/>
                </a:solidFill>
                <a:latin typeface="NanumSquare"/>
              </a:rPr>
              <a:t>일본어</a:t>
            </a:r>
            <a:endParaRPr lang="ko-KR" altLang="en-US" sz="12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38160" y="2455164"/>
            <a:ext cx="3246120" cy="564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Nemotron Zero-shot</a:t>
            </a:r>
            <a:endParaRPr sz="10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후처리</a:t>
            </a:r>
            <a:r>
              <a:rPr lang="ko-KR" altLang="en-US" sz="1000" b="0">
                <a:solidFill>
                  <a:srgbClr val="f5f8ff"/>
                </a:solidFill>
                <a:latin typeface="NanumSquare"/>
              </a:rPr>
              <a:t> </a:t>
            </a:r>
            <a:endParaRPr lang="en-US" altLang="ko-KR" sz="1000" b="0">
              <a:solidFill>
                <a:srgbClr val="f5f8ff"/>
              </a:solidFill>
              <a:latin typeface="NanumSquare"/>
            </a:endParaRPr>
          </a:p>
          <a:p>
            <a:pPr lvl="0" algn="l">
              <a:lnSpc>
                <a:spcPct val="125000"/>
              </a:lnSpc>
              <a:defRPr/>
            </a:pPr>
            <a:r>
              <a:rPr sz="1000" b="0">
                <a:solidFill>
                  <a:srgbClr val="f5f8ff"/>
                </a:solidFill>
                <a:latin typeface="NanumSquare"/>
              </a:rPr>
              <a:t>(추가 보강</a:t>
            </a:r>
            <a:r>
              <a:rPr lang="en-US" altLang="ko-KR" sz="1000" b="0">
                <a:solidFill>
                  <a:srgbClr val="f5f8ff"/>
                </a:solidFill>
                <a:latin typeface="NanumSquare"/>
              </a:rPr>
              <a:t>(</a:t>
            </a:r>
            <a:r>
              <a:rPr lang="ko-KR" altLang="en-US" sz="1000" b="0">
                <a:solidFill>
                  <a:srgbClr val="f5f8ff"/>
                </a:solidFill>
                <a:latin typeface="NanumSquare"/>
              </a:rPr>
              <a:t>일본어 특화</a:t>
            </a:r>
            <a:r>
              <a:rPr lang="en-US" altLang="ko-KR" sz="1000" b="0">
                <a:solidFill>
                  <a:srgbClr val="f5f8ff"/>
                </a:solidFill>
                <a:latin typeface="NanumSquare"/>
              </a:rPr>
              <a:t>)</a:t>
            </a:r>
            <a:r>
              <a:rPr sz="1000" b="0">
                <a:solidFill>
                  <a:srgbClr val="f5f8ff"/>
                </a:solidFill>
                <a:latin typeface="NanumSquare"/>
              </a:rPr>
              <a:t>)</a:t>
            </a:r>
            <a:endParaRPr sz="1000" b="0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9808" y="3361517"/>
            <a:ext cx="4924350" cy="3039247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25325" y="3361517"/>
            <a:ext cx="5865570" cy="3038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11</a:t>
            </a:r>
            <a:r>
              <a:rPr sz="900" b="1">
                <a:solidFill>
                  <a:srgbClr val="ffd600"/>
                </a:solidFill>
                <a:latin typeface="NanumSquare"/>
              </a:rPr>
              <a:t> VERSION COMPARE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NanumSquare"/>
              </a:rPr>
              <a:t>버전별 성능 비교 — Pro Judge + 종합 table + Memorization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1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720" b="0">
                <a:solidFill>
                  <a:srgbClr val="b0bbcd"/>
                </a:solidFill>
                <a:latin typeface="NanumSquare"/>
              </a:rPr>
              <a:t>9</a:t>
            </a:r>
            <a:r>
              <a:rPr sz="720" b="0">
                <a:solidFill>
                  <a:srgbClr val="b0bbcd"/>
                </a:solidFill>
                <a:latin typeface="NanumSquare"/>
              </a:rPr>
              <a:t>/1</a:t>
            </a:r>
            <a:r>
              <a:rPr lang="en-US" altLang="ko-KR" sz="720" b="0">
                <a:solidFill>
                  <a:srgbClr val="b0bbcd"/>
                </a:solidFill>
                <a:latin typeface="NanumSquare"/>
              </a:rPr>
              <a:t>6</a:t>
            </a:r>
            <a:r>
              <a:rPr sz="720" b="0">
                <a:solidFill>
                  <a:srgbClr val="b0bbcd"/>
                </a:solidFill>
                <a:latin typeface="NanumSquare"/>
              </a:rPr>
              <a:t>   10 VERSION COMPARE</a:t>
            </a:r>
            <a:endParaRPr sz="720" b="0">
              <a:solidFill>
                <a:srgbClr val="b0bbcd"/>
              </a:solidFill>
              <a:latin typeface="NanumSquare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9808" y="5971032"/>
            <a:ext cx="10744200" cy="41148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5971032"/>
            <a:ext cx="54864" cy="41148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108" y="6086284"/>
            <a:ext cx="941832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VF-2 Local</a:t>
            </a:r>
            <a:r>
              <a:rPr lang="ko-KR" altLang="en-US" sz="950" b="0">
                <a:solidFill>
                  <a:srgbClr val="f5f8ff"/>
                </a:solidFill>
                <a:latin typeface="NanumSquare"/>
              </a:rPr>
              <a:t>과 </a:t>
            </a: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Vg v3</a:t>
            </a:r>
            <a:r>
              <a:rPr lang="ko-KR" altLang="en-US" sz="950" b="0">
                <a:solidFill>
                  <a:srgbClr val="f5f8ff"/>
                </a:solidFill>
                <a:latin typeface="NanumSquare"/>
              </a:rPr>
              <a:t>의 각 장점을 혼합한 버전이 </a:t>
            </a: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VH</a:t>
            </a:r>
            <a:r>
              <a:rPr lang="ko-KR" altLang="en-US" sz="950" b="0">
                <a:solidFill>
                  <a:srgbClr val="f5f8ff"/>
                </a:solidFill>
                <a:latin typeface="NanumSquare"/>
              </a:rPr>
              <a:t> 였으나 오히려 각 단점을 가져온 애매한 결과</a:t>
            </a: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.</a:t>
            </a:r>
            <a:r>
              <a:rPr lang="ko-KR" altLang="en-US" sz="950" b="0">
                <a:solidFill>
                  <a:srgbClr val="f5f8ff"/>
                </a:solidFill>
                <a:latin typeface="NanumSquare"/>
              </a:rPr>
              <a:t> 모델 구성 만으로는 한계 발견</a:t>
            </a: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.</a:t>
            </a:r>
            <a:r>
              <a:rPr lang="ko-KR" altLang="en-US" sz="950" b="0">
                <a:solidFill>
                  <a:srgbClr val="f5f8ff"/>
                </a:solidFill>
                <a:latin typeface="NanumSquare"/>
              </a:rPr>
              <a:t> </a:t>
            </a: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pass</a:t>
            </a:r>
            <a:r>
              <a:rPr lang="ko-KR" altLang="en-US" sz="950" b="0">
                <a:solidFill>
                  <a:srgbClr val="f5f8ff"/>
                </a:solidFill>
                <a:latin typeface="NanumSquare"/>
              </a:rPr>
              <a:t>를 위해 향후 보완 내용으로 큰 개선 필요</a:t>
            </a:r>
            <a:r>
              <a:rPr lang="en-US" altLang="ko-KR" sz="950" b="0">
                <a:solidFill>
                  <a:srgbClr val="f5f8ff"/>
                </a:solidFill>
                <a:latin typeface="NanumSquare"/>
              </a:rPr>
              <a:t>.</a:t>
            </a:r>
            <a:endParaRPr lang="en-US" altLang="ko-KR" sz="950" b="0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9808" y="1074935"/>
            <a:ext cx="7412929" cy="471995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11723" y="4042788"/>
            <a:ext cx="3685032" cy="1752098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311722" y="1731612"/>
            <a:ext cx="3685032" cy="22167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1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2</a:t>
            </a:r>
            <a:r>
              <a:rPr sz="900" b="1">
                <a:solidFill>
                  <a:srgbClr val="ffd600"/>
                </a:solidFill>
                <a:latin typeface="NanumSquare"/>
              </a:rPr>
              <a:t> PRO JUDGE RESULT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NanumSquare"/>
              </a:rPr>
              <a:t>V.F-2 LOCAL 최종 Pro Judge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0BBCD"/>
                </a:solidFill>
                <a:latin typeface="NanumSquare"/>
              </a:rPr>
              <a:t>운영 모델 정량 성과 + Notes PASS 60 도달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11/17   11 PRO JUDGE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0BBCD"/>
                </a:solidFill>
                <a:latin typeface="NanumSquare"/>
              </a:rPr>
              <a:t>⏱  목표 시간: 45초 (0.8분)     ★  운영 모델 정량 성과 + Notes PASS 60 도달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9C896"/>
                </a:solidFill>
                <a:latin typeface="NanumSquare"/>
              </a:rPr>
              <a:t>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620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0BBCD"/>
                </a:solidFill>
                <a:latin typeface="NanumSquare"/>
              </a:rPr>
              <a:t>TB  (V.B 30B 의 35.9 +10.1)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1488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D600"/>
                </a:solidFill>
                <a:latin typeface="NanumSquare"/>
              </a:rPr>
              <a:t>65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620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0BBCD"/>
                </a:solidFill>
                <a:latin typeface="NanumSquare"/>
              </a:rPr>
              <a:t>Notes  (PASS 60 도달)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1488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331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A84D"/>
                </a:solidFill>
                <a:latin typeface="NanumSquare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8620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0BBCD"/>
                </a:solidFill>
                <a:latin typeface="NanumSquare"/>
              </a:rPr>
              <a:t>View  (-45pt)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0848" y="21488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2331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882FF"/>
                </a:solidFill>
                <a:latin typeface="NanumSquare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8620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0BBCD"/>
                </a:solidFill>
                <a:latin typeface="NanumSquare"/>
              </a:rPr>
              <a:t>Memorization  (V.G v3 trade-off)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1188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D600"/>
                </a:solidFill>
                <a:latin typeface="NanumSquare"/>
              </a:rPr>
              <a:t>★ "30B Teacher 도 못 한 Notes 영역 도달"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199754"/>
            <a:ext cx="10744200" cy="77724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Rectangle 23"/>
          <p:cNvSpPr/>
          <p:nvPr/>
        </p:nvSpPr>
        <p:spPr>
          <a:xfrm>
            <a:off x="749808" y="4199754"/>
            <a:ext cx="54864" cy="7772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14400" y="4346058"/>
            <a:ext cx="10469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ff6b6b"/>
                </a:solidFill>
                <a:latin typeface="NanumSquare"/>
              </a:rPr>
              <a:t>Verdict</a:t>
            </a:r>
            <a:endParaRPr sz="1200" b="1">
              <a:solidFill>
                <a:srgbClr val="ff6b6b"/>
              </a:solidFill>
              <a:latin typeface="NanumSquare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656954"/>
            <a:ext cx="10469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5000"/>
              </a:lnSpc>
              <a:defRPr/>
            </a:pPr>
            <a:r>
              <a:rPr sz="1200" b="0">
                <a:solidFill>
                  <a:srgbClr val="f5f8ff"/>
                </a:solidFill>
                <a:latin typeface="NanumSquare"/>
              </a:rPr>
              <a:t>FAIL 10/10  (PASS 가장 근접)</a:t>
            </a:r>
            <a:endParaRPr sz="1200" b="0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sp>
        <p:nvSpPr>
          <p:cNvPr id="36" name="TextBox 25"/>
          <p:cNvSpPr txBox="1"/>
          <p:nvPr/>
        </p:nvSpPr>
        <p:spPr>
          <a:xfrm>
            <a:off x="749808" y="5166360"/>
            <a:ext cx="10927080" cy="2914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600" b="1">
                <a:solidFill>
                  <a:srgbClr val="ffd600"/>
                </a:solidFill>
                <a:latin typeface="NanumSquare"/>
              </a:rPr>
              <a:t>★ </a:t>
            </a:r>
            <a:r>
              <a:rPr lang="ko-KR" altLang="en-US" sz="1600" b="1">
                <a:solidFill>
                  <a:srgbClr val="ffd600"/>
                </a:solidFill>
                <a:latin typeface="NanumSquare"/>
              </a:rPr>
              <a:t>버전 별 모델 구성과 아키텍쳐에 의해 특정 언어 취약</a:t>
            </a:r>
            <a:r>
              <a:rPr lang="en-US" altLang="ko-KR" sz="1600" b="1">
                <a:solidFill>
                  <a:srgbClr val="ffd600"/>
                </a:solidFill>
                <a:latin typeface="NanumSquare"/>
              </a:rPr>
              <a:t>,</a:t>
            </a:r>
            <a:r>
              <a:rPr lang="ko-KR" altLang="en-US" sz="1600" b="1">
                <a:solidFill>
                  <a:srgbClr val="ffd600"/>
                </a:solidFill>
                <a:latin typeface="NanumSquare"/>
              </a:rPr>
              <a:t> </a:t>
            </a:r>
            <a:r>
              <a:rPr lang="en-US" altLang="ko-KR" sz="1600" b="1">
                <a:solidFill>
                  <a:srgbClr val="ffd600"/>
                </a:solidFill>
                <a:latin typeface="NanumSquare"/>
              </a:rPr>
              <a:t>hallucination </a:t>
            </a:r>
            <a:r>
              <a:rPr lang="ko-KR" altLang="en-US" sz="1600" b="1">
                <a:solidFill>
                  <a:srgbClr val="ffd600"/>
                </a:solidFill>
                <a:latin typeface="NanumSquare"/>
              </a:rPr>
              <a:t>취약 등 장단점이 존재</a:t>
            </a:r>
            <a:r>
              <a:rPr lang="en-US" altLang="ko-KR" sz="1600" b="1">
                <a:solidFill>
                  <a:srgbClr val="ffd600"/>
                </a:solidFill>
                <a:latin typeface="NanumSquare"/>
              </a:rPr>
              <a:t>.</a:t>
            </a:r>
            <a:r>
              <a:rPr lang="ko-KR" altLang="en-US" sz="1600" b="1">
                <a:solidFill>
                  <a:srgbClr val="ffd600"/>
                </a:solidFill>
                <a:latin typeface="NanumSquare"/>
              </a:rPr>
              <a:t> </a:t>
            </a:r>
            <a:endParaRPr lang="ko-KR" altLang="en-US" sz="1600" b="1">
              <a:solidFill>
                <a:srgbClr val="ffd600"/>
              </a:solidFill>
              <a:latin typeface="NanumSquare"/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NanumSquare"/>
              </a:rPr>
              <a:t>13 UNRESOLVED DEFECTS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NanumSquare"/>
              </a:rPr>
              <a:t>해결하지 못한 문제 + 근본 원인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13/17   13 UNRESOLVED DEFECTS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250" y="6037796"/>
            <a:ext cx="10927080" cy="290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600" b="1">
                <a:solidFill>
                  <a:srgbClr val="ffd600"/>
                </a:solidFill>
                <a:latin typeface="NanumSquare"/>
              </a:rPr>
              <a:t>★ 4가지 결함 모두 dataset-level 또는 학습 방식의 fundamental issue — architecture 변경으로 해결 불가능</a:t>
            </a:r>
            <a:endParaRPr sz="1600" b="1">
              <a:solidFill>
                <a:srgbClr val="ffd600"/>
              </a:solidFill>
              <a:latin typeface="NanumSquare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3"/>
          <a:srcRect t="10140"/>
          <a:stretch>
            <a:fillRect/>
          </a:stretch>
        </p:blipFill>
        <p:spPr>
          <a:xfrm>
            <a:off x="1148583" y="1081601"/>
            <a:ext cx="9197680" cy="4867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D600"/>
                </a:solidFill>
                <a:latin typeface="NanumSquare"/>
              </a:rPr>
              <a:t>14 FUTURE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향후 개선 — 데이터셋 변경 + 이상적 데이터셋 제안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14/17   14 FUTURE · DATASET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41025" y="1094472"/>
            <a:ext cx="10109645" cy="52720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1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5</a:t>
            </a:r>
            <a:r>
              <a:rPr sz="900" b="1">
                <a:solidFill>
                  <a:srgbClr val="ffd600"/>
                </a:solidFill>
                <a:latin typeface="NanumSquare"/>
              </a:rPr>
              <a:t> CLOSING</a:t>
            </a:r>
            <a:endParaRPr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2700" b="1">
                <a:solidFill>
                  <a:srgbClr val="f5f8ff"/>
                </a:solidFill>
                <a:latin typeface="NanumSquare"/>
              </a:rPr>
              <a:t>Closing — Fundamental Insight + 운영 결정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607040" cy="179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b0bbcd"/>
                </a:solidFill>
                <a:latin typeface="NanumSquare"/>
              </a:rPr>
              <a:t>본 프로젝트 본질적 학습 </a:t>
            </a:r>
            <a:r>
              <a:rPr lang="ko-KR" altLang="en-US" sz="1200" b="0">
                <a:solidFill>
                  <a:srgbClr val="b0bbcd"/>
                </a:solidFill>
                <a:latin typeface="NanumSquare"/>
              </a:rPr>
              <a:t>내용</a:t>
            </a:r>
            <a:endParaRPr sz="1200" b="0">
              <a:solidFill>
                <a:srgbClr val="b0bbcd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B0BBCD"/>
                </a:solidFill>
                <a:latin typeface="NanumSquare"/>
              </a:rPr>
              <a:t>16/17   16 CLOSING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031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103120"/>
            <a:ext cx="54864" cy="9601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NanumSquare"/>
              </a:rPr>
              <a:t>★★★ 1. Data Quality &gt; Model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V.G v3 9% vs 30B 90%, 10배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031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2103120"/>
            <a:ext cx="54864" cy="9601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249424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  <a:latin typeface="NanumSquare"/>
              </a:rPr>
              <a:t>★★★ 2. Hybrid Routing &gt; Single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5603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3.5B &gt; 30B, TB +10.1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15468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154680"/>
            <a:ext cx="54864" cy="96012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00984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9C896"/>
                </a:solidFill>
                <a:latin typeface="NanumSquare"/>
              </a:rPr>
              <a:t>★★ 3. Memo fix architecture 종속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V.G v3 9% vs V.H' 70%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15468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154680"/>
            <a:ext cx="54864" cy="960120"/>
          </a:xfrm>
          <a:prstGeom prst="rect">
            <a:avLst/>
          </a:prstGeom>
          <a:solidFill>
            <a:srgbClr val="49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300984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9C896"/>
                </a:solidFill>
                <a:latin typeface="NanumSquare"/>
              </a:rPr>
              <a:t>★★ 4. Val_loss ≠ Inference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6118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V.H' val 0.44 → Pro Judge 1.5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2062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4206240"/>
            <a:ext cx="54864" cy="914400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52544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91FF"/>
                </a:solidFill>
                <a:latin typeface="NanumSquare"/>
              </a:rPr>
              <a:t>★ 5. 학습 데이터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84% V.B Qwen contamination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42062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4206240"/>
            <a:ext cx="54864" cy="914400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1" y="4352544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91FF"/>
                </a:solidFill>
                <a:latin typeface="NanumSquare"/>
              </a:rPr>
              <a:t>★ 6. View 본질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V.A 데이터셋 chain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2062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0A1624"/>
          </a:solidFill>
          <a:ln w="9525">
            <a:solidFill>
              <a:srgbClr val="28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206240"/>
            <a:ext cx="54864" cy="914400"/>
          </a:xfrm>
          <a:prstGeom prst="rect">
            <a:avLst/>
          </a:prstGeom>
          <a:solidFill>
            <a:srgbClr val="59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352544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91FF"/>
                </a:solidFill>
                <a:latin typeface="NanumSquare"/>
              </a:rPr>
              <a:t>★ 7. TB 4-Cause Root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6634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5F8FF"/>
                </a:solidFill>
                <a:latin typeface="NanumSquare"/>
              </a:rPr>
              <a:t>TB 영역 fundamental issue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349240"/>
            <a:ext cx="10744200" cy="1051560"/>
          </a:xfrm>
          <a:prstGeom prst="roundRect">
            <a:avLst>
              <a:gd name="adj" fmla="val 5000"/>
            </a:avLst>
          </a:prstGeom>
          <a:solidFill>
            <a:srgbClr val="0A1624"/>
          </a:solidFill>
          <a:ln w="190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486400"/>
            <a:ext cx="1033272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ffd600"/>
                </a:solidFill>
                <a:latin typeface="NanumSquare"/>
              </a:rPr>
              <a:t>★ </a:t>
            </a:r>
            <a:r>
              <a:rPr lang="ko-KR" altLang="en-US" sz="1200" b="1">
                <a:solidFill>
                  <a:srgbClr val="ffd600"/>
                </a:solidFill>
                <a:latin typeface="NanumSquare"/>
              </a:rPr>
              <a:t>결론</a:t>
            </a:r>
            <a:endParaRPr lang="ko-KR" altLang="en-US" sz="12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0120" y="5806440"/>
            <a:ext cx="10332720" cy="299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en-US" altLang="ko-KR" sz="2000" b="1">
                <a:solidFill>
                  <a:srgbClr val="f5f8ff"/>
                </a:solidFill>
                <a:latin typeface="NanumSquare"/>
              </a:rPr>
              <a:t>AI</a:t>
            </a:r>
            <a:r>
              <a:rPr lang="ko-KR" altLang="en-US" sz="2000" b="1">
                <a:solidFill>
                  <a:srgbClr val="f5f8ff"/>
                </a:solidFill>
                <a:latin typeface="NanumSquare"/>
              </a:rPr>
              <a:t>학습은 데이터셋이 제일 중요</a:t>
            </a:r>
            <a:r>
              <a:rPr lang="en-US" altLang="ko-KR" sz="2000" b="1">
                <a:solidFill>
                  <a:srgbClr val="f5f8ff"/>
                </a:solidFill>
                <a:latin typeface="NanumSquare"/>
              </a:rPr>
              <a:t>.</a:t>
            </a:r>
            <a:r>
              <a:rPr lang="ko-KR" altLang="en-US" sz="2000" b="1">
                <a:solidFill>
                  <a:srgbClr val="f5f8ff"/>
                </a:solidFill>
                <a:latin typeface="NanumSquare"/>
              </a:rPr>
              <a:t> 아키텍처 구조나 모델의 성능으로는 개선할수 없다</a:t>
            </a:r>
            <a:r>
              <a:rPr lang="en-US" altLang="ko-KR" sz="2000" b="1">
                <a:solidFill>
                  <a:srgbClr val="f5f8ff"/>
                </a:solidFill>
                <a:latin typeface="NanumSquare"/>
              </a:rPr>
              <a:t>.</a:t>
            </a:r>
            <a:endParaRPr lang="en-US" altLang="ko-KR" sz="2000" b="1">
              <a:solidFill>
                <a:srgbClr val="f5f8ff"/>
              </a:solidFill>
              <a:latin typeface="NanumSquare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486400" cy="12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900" b="1">
                <a:solidFill>
                  <a:srgbClr val="ffd600"/>
                </a:solidFill>
                <a:latin typeface="NanumSquare"/>
              </a:rPr>
              <a:t>1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6</a:t>
            </a:r>
            <a:r>
              <a:rPr sz="900" b="1">
                <a:solidFill>
                  <a:srgbClr val="ffd600"/>
                </a:solidFill>
                <a:latin typeface="NanumSquare"/>
              </a:rPr>
              <a:t> </a:t>
            </a:r>
            <a:r>
              <a:rPr lang="en-US" altLang="ko-KR" sz="900" b="1">
                <a:solidFill>
                  <a:srgbClr val="ffd600"/>
                </a:solidFill>
                <a:latin typeface="NanumSquare"/>
              </a:rPr>
              <a:t>Reference</a:t>
            </a:r>
            <a:endParaRPr lang="en-US" altLang="ko-KR" sz="900" b="1">
              <a:solidFill>
                <a:srgbClr val="ffd600"/>
              </a:solidFill>
              <a:latin typeface="NanumSquar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404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lang="ko-KR" altLang="en-US" sz="2700" b="1">
                <a:solidFill>
                  <a:srgbClr val="f5f8ff"/>
                </a:solidFill>
                <a:latin typeface="NanumSquare"/>
              </a:rPr>
              <a:t>도면 인식 </a:t>
            </a:r>
            <a:r>
              <a:rPr lang="en-US" altLang="ko-KR" sz="2700" b="1">
                <a:solidFill>
                  <a:srgbClr val="f5f8ff"/>
                </a:solidFill>
                <a:latin typeface="NanumSquare"/>
              </a:rPr>
              <a:t>R</a:t>
            </a:r>
            <a:r>
              <a:rPr sz="2700" b="1">
                <a:solidFill>
                  <a:srgbClr val="f5f8ff"/>
                </a:solidFill>
                <a:latin typeface="NanumSquare"/>
              </a:rPr>
              <a:t>eference</a:t>
            </a:r>
            <a:endParaRPr sz="2700" b="1">
              <a:solidFill>
                <a:srgbClr val="f5f8ff"/>
              </a:solidFill>
              <a:latin typeface="NanumSquar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455664"/>
            <a:ext cx="10012680" cy="36576"/>
          </a:xfrm>
          <a:prstGeom prst="rect">
            <a:avLst/>
          </a:prstGeom>
          <a:solidFill>
            <a:srgbClr val="31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566928" y="6455664"/>
            <a:ext cx="66751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0058400" cy="11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720" b="0">
                <a:solidFill>
                  <a:srgbClr val="b0bbcd"/>
                </a:solidFill>
                <a:latin typeface="NanumSquare"/>
              </a:rPr>
              <a:t>17/17   17 Q&amp;A</a:t>
            </a:r>
            <a:endParaRPr sz="720" b="0">
              <a:solidFill>
                <a:srgbClr val="b0bbcd"/>
              </a:solidFill>
              <a:latin typeface="NanumSquare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46263" y="163679"/>
            <a:ext cx="1720607" cy="367584"/>
          </a:xfrm>
          <a:prstGeom prst="rect">
            <a:avLst/>
          </a:prstGeom>
        </p:spPr>
      </p:pic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343491" y="1617045"/>
          <a:ext cx="4805853" cy="3437844"/>
        </p:xfrm>
        <a:graphic>
          <a:graphicData uri="http://schemas.openxmlformats.org/drawingml/2006/table">
            <a:tbl>
              <a:tblPr firstRow="1" bandRow="1">
                <a:tableStyleId>{138F972D-3A02-497A-9D08-DF27CF173CB4}</a:tableStyleId>
              </a:tblPr>
              <a:tblGrid>
                <a:gridCol w="2342594"/>
                <a:gridCol w="2463258"/>
              </a:tblGrid>
              <a:tr h="3676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카테고리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개수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76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학술 논문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31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76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HuggingFace 모델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13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863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HuggingFace 데이터셋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 (FLD-5B)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4945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GitHub 레포 + Issues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30+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863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기술 blog / 공식 docs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22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76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외부 데이터셋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3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76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API / 서비스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7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676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총합 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100</a:t>
                      </a:r>
                      <a:r>
                        <a:rPr lang="ko-KR" altLang="en-US"/>
                        <a:t>개 이상</a:t>
                      </a: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803024" y="1070377"/>
            <a:ext cx="3086479" cy="4717244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83050" y="1070377"/>
            <a:ext cx="3322698" cy="471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2249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800</ep:Words>
  <ep:PresentationFormat>On-screen Show (4:3)</ep:PresentationFormat>
  <ep:Paragraphs>248</ep:Paragraphs>
  <ep:Slides>16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user</cp:lastModifiedBy>
  <dcterms:modified xsi:type="dcterms:W3CDTF">2026-05-18T08:16:10.478</dcterms:modified>
  <cp:revision>105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